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2BF407-2D1B-3C2A-B1A0-2D6DC629F9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76F1443-F303-83D6-10B3-9BCEF4410E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EE7A70E-27D5-A28D-60BD-48289E531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0DCD0E-0407-2D82-7375-E9ECB855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71F1264-A8D1-67AF-69CC-5C8AED390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294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9775E9-AC10-3F9A-392F-37BD2D12C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B34638-B373-7C8B-DCA4-70E048898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F08719-9C7B-44C0-FE3C-3F1C23CEF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460883-28AA-0D93-9395-7677E9381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746A816-B7CB-1A22-E95B-30F41906D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0612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46715B-6107-A16B-FD23-5BDB5644B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4F1A77-6E5C-DF78-8F3F-1C7DE3E42E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39CD63-1224-5161-C405-15B0693DF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D79D6D5-8186-530D-75CA-EE1DAAC7E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2BAC862-0243-1328-18A2-B8D19923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53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43A687-2CF2-D685-BB23-E47DF078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33EE23-B220-47D0-130D-CF0D9854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ACA9FE-A089-223E-9CB9-405330A4DE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E4C642-9CDA-F700-F7DD-091703D03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F990D0A-D6EA-4153-0E5F-FEFD05D34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66DF918-5109-FB9A-8210-A14824429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8839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34397-F658-9D36-AE9B-238CC5BD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86EB5B-5AE2-378B-B849-67399E32C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5F9321A-3E7A-B731-F51A-896CE5E8C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AFBFDCD-7A5B-B957-070F-9040A4315E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32986D1-4573-93BE-56F3-C432EB62A9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FAB92ED-678B-3F3B-E7DF-4995B2CEB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87FA2F0-9FCF-7D2B-D625-F99470A1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DF348D0-3F60-2258-4481-0CC76935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4770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E37DA4-8E25-7198-A032-47A62B2FD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DFB6E9-DEE0-9CD2-806C-D3D437CF2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08CB649-63DF-4B88-E6DE-7A0B4A454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CE7EA0A-A914-558A-89BC-D162730D0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42220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BF7F201F-063E-F7F6-870F-C06523F8E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06673FC-22F3-46BA-9CC5-A393212C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E21849-2CDC-1353-B9E8-EFE6F005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2042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9499C0-30C9-8219-F1AE-96380B3AB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946F81-001E-051B-A1AD-DB5CC672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062B710-4F12-6C2D-B653-63135B2263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6F19C17-53C6-1B68-5820-911D3D148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A0559EA-9265-9AF6-EC72-9EB92CAE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3D77A20-2580-0BAA-3CA0-7155A28DA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947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3BD62C-F262-E91B-FDBF-56CA7A9B2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323EC0C-C578-96E9-7E92-3078FF1FB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8C5627-FD02-5AFF-6EFA-D24CE548CC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6FD400-C9EE-89AE-F760-F20F5019D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285433F-DCC9-1BD6-7CAE-7F155910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236FE81-3B3F-4563-D9BE-59EFDF13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0516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1358FD-61EA-F828-CDBE-DD6940087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D539E4D-994B-AE2A-02C4-58F30745B0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610EA5-B0A4-7C80-56FB-73047DF8C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815B96A-9FDE-366F-78EA-3FEC63CC0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CEAAD7C-7B53-EBD6-1EC0-C62DC1B8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1054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BBC2A26-F06B-946A-B9A8-5C8A6FC94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2CB638C-06D6-C389-5101-F36F38721D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641AD4-31BA-92DE-0480-3DFF69C5E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57A2F8-399C-6B1F-425D-1ADC258AE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6338BF-6685-E972-B92F-03644FC9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816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1DDE399-E755-0900-C398-D0CB52B8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999211-71F3-6B7D-7046-EA044C590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1F7D80-855E-5139-7B73-E2FF17951C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9C90D1-B2FE-4A13-B9D2-33237522A0C4}" type="datetimeFigureOut">
              <a:rPr lang="it-IT" smtClean="0"/>
              <a:t>31/01/2026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6DD03-E406-F314-A952-1ED0AB711A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C9A1722-8F7C-9841-657A-63C923880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409B3A-8EFC-42B2-A1CD-CC36499006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8148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C9424F-B9E6-FDCA-793B-55C99CBAAC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BDFB7E6-2076-F564-DD1E-E7467B981F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499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5DAC0C-3D81-2A1C-F8F0-237C5A740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Bilateral</a:t>
            </a:r>
            <a:r>
              <a:rPr lang="it-IT" dirty="0"/>
              <a:t> filtering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6DFBF0-BAE7-59C2-2498-073B7EEC7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Filtro utilizzato per alterare la resa grafica di un’immagine</a:t>
            </a:r>
          </a:p>
          <a:p>
            <a:r>
              <a:rPr lang="it-IT" dirty="0"/>
              <a:t>Alterazione dell’immagine ad esclusione dei bordi</a:t>
            </a:r>
          </a:p>
          <a:p>
            <a:r>
              <a:rPr lang="it-IT" dirty="0">
                <a:highlight>
                  <a:srgbClr val="FFFF00"/>
                </a:highlight>
              </a:rPr>
              <a:t>Utilizzato nella 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406104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63A2CE-3BFB-57CF-DE78-5D1CAF47D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Bilateral</a:t>
            </a:r>
            <a:r>
              <a:rPr lang="it-IT" dirty="0"/>
              <a:t> filter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25DF44-3E3E-F82B-000A-6668089B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[formula]</a:t>
            </a:r>
          </a:p>
          <a:p>
            <a:r>
              <a:rPr lang="it-IT" dirty="0"/>
              <a:t>L’applicazione di questa formula è da considerarsi per ogni pixel, quindi adatta alla parallelizzazione</a:t>
            </a:r>
          </a:p>
        </p:txBody>
      </p:sp>
    </p:spTree>
    <p:extLst>
      <p:ext uri="{BB962C8B-B14F-4D97-AF65-F5344CB8AC3E}">
        <p14:creationId xmlns:p14="http://schemas.microsoft.com/office/powerpoint/2010/main" val="1271820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CAB8E-06E7-A55D-AB99-B43A16477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 a implementazione </a:t>
            </a:r>
            <a:r>
              <a:rPr lang="it-IT" dirty="0" err="1"/>
              <a:t>Naive</a:t>
            </a:r>
            <a:r>
              <a:rPr lang="it-IT" dirty="0"/>
              <a:t> sequenziale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C6D405-F4D4-ADA9-BB32-4504CDB96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93933" cy="4351338"/>
          </a:xfrm>
        </p:spPr>
        <p:txBody>
          <a:bodyPr/>
          <a:lstStyle/>
          <a:p>
            <a:r>
              <a:rPr lang="it-IT" dirty="0"/>
              <a:t>La prima versione sviluppata implementa una soluzione su </a:t>
            </a:r>
            <a:r>
              <a:rPr lang="it-IT" dirty="0" err="1"/>
              <a:t>cpu</a:t>
            </a:r>
            <a:r>
              <a:rPr lang="it-IT" dirty="0"/>
              <a:t> senza ottimizzazione: il cui scopo era avere una baseline per poter controllare la correttezza delle implementazioni successive.</a:t>
            </a:r>
          </a:p>
        </p:txBody>
      </p:sp>
      <p:pic>
        <p:nvPicPr>
          <p:cNvPr id="5" name="Immagine 4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719552A1-AFFE-62AF-17DC-1133361C2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68" y="984696"/>
            <a:ext cx="4974840" cy="579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64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26411-E6FB-55F2-F919-DF032C94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65125"/>
            <a:ext cx="10515600" cy="1325563"/>
          </a:xfrm>
        </p:spPr>
        <p:txBody>
          <a:bodyPr/>
          <a:lstStyle/>
          <a:p>
            <a:r>
              <a:rPr lang="it-IT" dirty="0"/>
              <a:t>Implementazione </a:t>
            </a:r>
            <a:r>
              <a:rPr lang="it-IT" dirty="0" err="1"/>
              <a:t>Naive</a:t>
            </a:r>
            <a:r>
              <a:rPr lang="it-IT" dirty="0"/>
              <a:t> parallela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60D8BE-8EAF-EE1F-FA06-BA5691CA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1343025"/>
            <a:ext cx="6697134" cy="4351338"/>
          </a:xfrm>
        </p:spPr>
        <p:txBody>
          <a:bodyPr/>
          <a:lstStyle/>
          <a:p>
            <a:r>
              <a:rPr lang="it-IT" dirty="0"/>
              <a:t>La prima versione di un approccio parallelo sviluppata per </a:t>
            </a:r>
            <a:r>
              <a:rPr lang="it-IT" dirty="0" err="1"/>
              <a:t>gpu</a:t>
            </a:r>
            <a:r>
              <a:rPr lang="it-IT" dirty="0"/>
              <a:t>: minime modifiche del codice sequenziale per renderlo parallelo.</a:t>
            </a:r>
          </a:p>
          <a:p>
            <a:r>
              <a:rPr lang="it-IT" dirty="0"/>
              <a:t>Versione in cui non sono stati presi in considerazione dettagli relativi all’architettura della </a:t>
            </a:r>
            <a:r>
              <a:rPr lang="it-IT" dirty="0" err="1"/>
              <a:t>gpu</a:t>
            </a:r>
            <a:r>
              <a:rPr lang="it-IT" dirty="0"/>
              <a:t>, memorie interne e ottimizzazione della struttura del codice.</a:t>
            </a:r>
          </a:p>
        </p:txBody>
      </p:sp>
      <p:pic>
        <p:nvPicPr>
          <p:cNvPr id="5" name="Immagine 4" descr="Immagine che contiene testo, schermata, software, schermo&#10;&#10;Il contenuto generato dall'IA potrebbe non essere corretto.">
            <a:extLst>
              <a:ext uri="{FF2B5EF4-FFF2-40B4-BE49-F238E27FC236}">
                <a16:creationId xmlns:a16="http://schemas.microsoft.com/office/drawing/2014/main" id="{8D7081E9-0CC9-53D5-D150-FE3407C4F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34" y="930275"/>
            <a:ext cx="4546504" cy="586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05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A833AC-AD56-AF54-5C55-F8B7116CA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Prima ottimizzazione: modiche strutturali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1720CD-C419-B966-C824-4AB616DCD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In questa prima fase ci siamo concentrati nell’ottimizzazione dei tempi di esecuzione concentrandoci su modifiche al codice. </a:t>
            </a:r>
          </a:p>
          <a:p>
            <a:pPr marL="0" indent="0">
              <a:buNone/>
            </a:pPr>
            <a:r>
              <a:rPr lang="it-IT" dirty="0"/>
              <a:t>All’interno del codice sono presenti due operazioni costose: le due </a:t>
            </a:r>
            <a:r>
              <a:rPr lang="it-IT" i="1" dirty="0" err="1"/>
              <a:t>expf</a:t>
            </a:r>
            <a:r>
              <a:rPr lang="it-IT" i="1" dirty="0"/>
              <a:t>()</a:t>
            </a:r>
            <a:r>
              <a:rPr lang="it-IT" dirty="0"/>
              <a:t> usate per calcolare i pesi; quindi abbiamo valutato di sostituirle con due vettori precalcolati.</a:t>
            </a:r>
          </a:p>
          <a:p>
            <a:pPr marL="0" indent="0">
              <a:buNone/>
            </a:pPr>
            <a:r>
              <a:rPr lang="it-IT" dirty="0">
                <a:highlight>
                  <a:srgbClr val="FFFF00"/>
                </a:highlight>
              </a:rPr>
              <a:t>Tramite compute è stato verificato che erano presenti numeri stalli dovuti a operazioni matematiche sui float, riconducibili alle </a:t>
            </a:r>
            <a:r>
              <a:rPr lang="it-IT" i="1" dirty="0" err="1">
                <a:highlight>
                  <a:srgbClr val="FFFF00"/>
                </a:highlight>
              </a:rPr>
              <a:t>expf</a:t>
            </a:r>
            <a:r>
              <a:rPr lang="it-IT" i="1" dirty="0">
                <a:highlight>
                  <a:srgbClr val="FFFF00"/>
                </a:highlight>
              </a:rPr>
              <a:t>()</a:t>
            </a:r>
            <a:r>
              <a:rPr lang="it-IT" dirty="0">
                <a:highlight>
                  <a:srgbClr val="FFFF00"/>
                </a:highlight>
              </a:rPr>
              <a:t>.</a:t>
            </a:r>
          </a:p>
          <a:p>
            <a:pPr marL="0" indent="0">
              <a:buNone/>
            </a:pPr>
            <a:r>
              <a:rPr lang="it-IT" i="1" dirty="0">
                <a:solidFill>
                  <a:schemeClr val="bg1"/>
                </a:solidFill>
                <a:highlight>
                  <a:srgbClr val="FF0000"/>
                </a:highlight>
              </a:rPr>
              <a:t>Check </a:t>
            </a:r>
            <a:r>
              <a:rPr lang="it-IT" i="1" dirty="0" err="1">
                <a:solidFill>
                  <a:schemeClr val="bg1"/>
                </a:solidFill>
                <a:highlight>
                  <a:srgbClr val="FF0000"/>
                </a:highlight>
              </a:rPr>
              <a:t>lookup</a:t>
            </a:r>
            <a:r>
              <a:rPr lang="it-IT" i="1" dirty="0">
                <a:solidFill>
                  <a:schemeClr val="bg1"/>
                </a:solidFill>
                <a:highlight>
                  <a:srgbClr val="FF0000"/>
                </a:highlight>
              </a:rPr>
              <a:t> </a:t>
            </a:r>
            <a:r>
              <a:rPr lang="it-IT" i="1" dirty="0" err="1">
                <a:solidFill>
                  <a:schemeClr val="bg1"/>
                </a:solidFill>
                <a:highlight>
                  <a:srgbClr val="FF0000"/>
                </a:highlight>
              </a:rPr>
              <a:t>table</a:t>
            </a:r>
            <a:r>
              <a:rPr lang="it-IT" i="1" dirty="0">
                <a:solidFill>
                  <a:schemeClr val="bg1"/>
                </a:solidFill>
                <a:highlight>
                  <a:srgbClr val="FF0000"/>
                </a:highlight>
              </a:rPr>
              <a:t> compute</a:t>
            </a:r>
          </a:p>
        </p:txBody>
      </p:sp>
    </p:spTree>
    <p:extLst>
      <p:ext uri="{BB962C8B-B14F-4D97-AF65-F5344CB8AC3E}">
        <p14:creationId xmlns:p14="http://schemas.microsoft.com/office/powerpoint/2010/main" val="3048453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E8EAA5-80C2-30C9-C9A8-74D7F4098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RGB -&gt; RGBA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111898-51E2-7755-20BD-1BC81B790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Per avere degli accessi allineate e coalescenti in memoria abbiamo deciso di aggiungere un kernel per modificare il formato dei pixel e salvarli come 4 Bytes invece che 3.</a:t>
            </a:r>
          </a:p>
          <a:p>
            <a:pPr marL="0" indent="0">
              <a:buNone/>
            </a:pPr>
            <a:r>
              <a:rPr lang="it-IT" dirty="0"/>
              <a:t>Immagine in fondo kernel vs </a:t>
            </a:r>
            <a:r>
              <a:rPr lang="it-IT" dirty="0" err="1"/>
              <a:t>stbi</a:t>
            </a:r>
            <a:r>
              <a:rPr lang="it-IT" dirty="0"/>
              <a:t> con note a pie di immagine di </a:t>
            </a:r>
            <a:r>
              <a:rPr lang="it-IT" dirty="0" err="1"/>
              <a:t>desc</a:t>
            </a:r>
            <a:r>
              <a:rPr lang="it-IT" dirty="0"/>
              <a:t>.</a:t>
            </a:r>
          </a:p>
        </p:txBody>
      </p:sp>
      <p:pic>
        <p:nvPicPr>
          <p:cNvPr id="5" name="Immagine 4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0AFD689F-3AB9-9317-BF2B-13AC618A9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7262" y="4184539"/>
            <a:ext cx="7331075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41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EAE704-DE51-72B8-5913-00C24CBA3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Allocazione nella memoria costante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BF5E648-FB63-1C9E-9C24-9312F50CE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Nella maggior parte dei casi tutti i </a:t>
            </a:r>
            <a:r>
              <a:rPr lang="it-IT" dirty="0" err="1"/>
              <a:t>thread</a:t>
            </a:r>
            <a:r>
              <a:rPr lang="it-IT" dirty="0"/>
              <a:t> di un </a:t>
            </a:r>
            <a:r>
              <a:rPr lang="it-IT" dirty="0" err="1"/>
              <a:t>warp</a:t>
            </a:r>
            <a:r>
              <a:rPr lang="it-IT" dirty="0"/>
              <a:t> accedono allo stesso valore del vettore «peso spaziale». </a:t>
            </a:r>
          </a:p>
          <a:p>
            <a:pPr marL="0" indent="0">
              <a:buNone/>
            </a:pPr>
            <a:r>
              <a:rPr lang="it-IT" dirty="0"/>
              <a:t>Per questo è stato spostato nella memoria costante della </a:t>
            </a:r>
            <a:r>
              <a:rPr lang="it-IT" dirty="0" err="1"/>
              <a:t>gpu</a:t>
            </a:r>
            <a:r>
              <a:rPr lang="it-IT"/>
              <a:t>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791577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283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di Office</vt:lpstr>
      <vt:lpstr>Presentazione standard di PowerPoint</vt:lpstr>
      <vt:lpstr>Bilateral filtering</vt:lpstr>
      <vt:lpstr>Bilateral filter</vt:lpstr>
      <vt:lpstr>Introduzione a implementazione Naive sequenziale</vt:lpstr>
      <vt:lpstr>Implementazione Naive parallela </vt:lpstr>
      <vt:lpstr>Prima ottimizzazione: modiche strutturali</vt:lpstr>
      <vt:lpstr>RGB -&gt; RGBA</vt:lpstr>
      <vt:lpstr>Allocazione nella memoria costante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Mirko Tonelli - mirko.tonelli2@studio.unibo.it</dc:creator>
  <cp:lastModifiedBy>Mirko Tonelli - mirko.tonelli2@studio.unibo.it</cp:lastModifiedBy>
  <cp:revision>3</cp:revision>
  <dcterms:created xsi:type="dcterms:W3CDTF">2026-01-31T14:12:29Z</dcterms:created>
  <dcterms:modified xsi:type="dcterms:W3CDTF">2026-01-31T17:32:15Z</dcterms:modified>
</cp:coreProperties>
</file>