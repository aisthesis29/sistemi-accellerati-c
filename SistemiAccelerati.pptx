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64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BAEA"/>
    <a:srgbClr val="38BBEB"/>
    <a:srgbClr val="00B0ED"/>
    <a:srgbClr val="008EE0"/>
    <a:srgbClr val="008A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6F9EEC-73C9-4D5A-A8AC-9EDD4E7F6343}" v="1833" dt="2026-01-31T21:14:44.555"/>
    <p1510:client id="{B28C212B-38ED-4C0A-A0CB-0942C24AAF25}" v="516" dt="2026-01-31T21:00:25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414BD-4516-4969-9E56-F76616DFC2ED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60479-0A81-4FAE-B7B9-CBF3E8B6C7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7776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2BF407-2D1B-3C2A-B1A0-2D6DC629F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76F1443-F303-83D6-10B3-9BCEF4410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E7A70E-27D5-A28D-60BD-48289E53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0DCD0E-0407-2D82-7375-E9ECB855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1F1264-A8D1-67AF-69CC-5C8AED39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294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9775E9-AC10-3F9A-392F-37BD2D12C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B34638-B373-7C8B-DCA4-70E048898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F08719-9C7B-44C0-FE3C-3F1C23CE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460883-28AA-0D93-9395-7677E9381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46A816-B7CB-1A22-E95B-30F41906D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061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46715B-6107-A16B-FD23-5BDB5644B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44F1A77-6E5C-DF78-8F3F-1C7DE3E42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39CD63-1224-5161-C405-15B0693D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79D6D5-8186-530D-75CA-EE1DAAC7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2BAC862-0243-1328-18A2-B8D19923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165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3A687-2CF2-D685-BB23-E47DF078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33EE23-B220-47D0-130D-CF0D98543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ACA9FE-A089-223E-9CB9-405330A4D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1E4C642-9CDA-F700-F7DD-091703D03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F990D0A-D6EA-4153-0E5F-FEFD05D3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66DF918-5109-FB9A-8210-A1482442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8839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334397-F658-9D36-AE9B-238CC5BD6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86EB5B-5AE2-378B-B849-67399E32C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5F9321A-3E7A-B731-F51A-896CE5E8C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AFBFDCD-7A5B-B957-070F-9040A4315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32986D1-4573-93BE-56F3-C432EB62A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FAB92ED-678B-3F3B-E7DF-4995B2CEB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87FA2F0-9FCF-7D2B-D625-F99470A1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DF348D0-3F60-2258-4481-0CC76935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477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E37DA4-8E25-7198-A032-47A62B2F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BDFB6E9-DEE0-9CD2-806C-D3D437CF2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08CB649-63DF-4B88-E6DE-7A0B4A45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CE7EA0A-A914-558A-89BC-D162730D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2220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F7F201F-063E-F7F6-870F-C06523F8E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06673FC-22F3-46BA-9CC5-A393212C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E21849-2CDC-1353-B9E8-EFE6F005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204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499C0-30C9-8219-F1AE-96380B3AB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946F81-001E-051B-A1AD-DB5CC672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062B710-4F12-6C2D-B653-63135B226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6F19C17-53C6-1B68-5820-911D3D148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A0559EA-9265-9AF6-EC72-9EB92CAE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3D77A20-2580-0BAA-3CA0-7155A28D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3947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3BD62C-F262-E91B-FDBF-56CA7A9B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323EC0C-C578-96E9-7E92-3078FF1FB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08C5627-FD02-5AFF-6EFA-D24CE548C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6FD400-C9EE-89AE-F760-F20F5019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285433F-DCC9-1BD6-7CAE-7F155910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236FE81-3B3F-4563-D9BE-59EFDF13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051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1358FD-61EA-F828-CDBE-DD694008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D539E4D-994B-AE2A-02C4-58F30745B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610EA5-B0A4-7C80-56FB-73047DF8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15B96A-9FDE-366F-78EA-3FEC63C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EAAD7C-7B53-EBD6-1EC0-C62DC1B8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05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BBC2A26-F06B-946A-B9A8-5C8A6FC94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2CB638C-06D6-C389-5101-F36F38721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641AD4-31BA-92DE-0480-3DFF69C5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57A2F8-399C-6B1F-425D-1ADC258A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6338BF-6685-E972-B92F-03644FC9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781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1DDE399-E755-0900-C398-D0CB52B8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8999211-71F3-6B7D-7046-EA044C590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1F7D80-855E-5139-7B73-E2FF17951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C90D1-B2FE-4A13-B9D2-33237522A0C4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96DD03-E406-F314-A952-1ED0AB711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C9A1722-8F7C-9841-657A-63C923880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09B3A-8EFC-42B2-A1CD-CC36499006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814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C9424F-B9E6-FDCA-793B-55C99CBAA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BDFB7E6-2076-F564-DD1E-E7467B981F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49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5DAC0C-3D81-2A1C-F8F0-237C5A74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Bilateral</a:t>
            </a:r>
            <a:r>
              <a:rPr lang="it-IT"/>
              <a:t> filtering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6DFBF0-BAE7-59C2-2498-073B7EEC7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Filtro utilizzato per alterare la resa grafica di un’immagine</a:t>
            </a:r>
          </a:p>
          <a:p>
            <a:r>
              <a:rPr lang="it-IT"/>
              <a:t>Alterazione dell’immagine ad esclusione dei bordi</a:t>
            </a:r>
          </a:p>
          <a:p>
            <a:r>
              <a:rPr lang="it-IT">
                <a:highlight>
                  <a:srgbClr val="FFFF00"/>
                </a:highlight>
              </a:rPr>
              <a:t>Utilizzato nella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406104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63A2CE-3BFB-57CF-DE78-5D1CAF47D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Bilateral</a:t>
            </a:r>
            <a:r>
              <a:rPr lang="it-IT"/>
              <a:t> filter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25DF44-3E3E-F82B-000A-6668089BF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[formula]</a:t>
            </a:r>
          </a:p>
          <a:p>
            <a:r>
              <a:rPr lang="it-IT"/>
              <a:t>L’applicazione di questa formula è da considerarsi per ogni pixel, quindi adatta alla parallelizzazione</a:t>
            </a:r>
          </a:p>
        </p:txBody>
      </p:sp>
    </p:spTree>
    <p:extLst>
      <p:ext uri="{BB962C8B-B14F-4D97-AF65-F5344CB8AC3E}">
        <p14:creationId xmlns:p14="http://schemas.microsoft.com/office/powerpoint/2010/main" val="1271820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1CAB8E-06E7-A55D-AB99-B43A1647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Introduzione a implementazione </a:t>
            </a:r>
            <a:r>
              <a:rPr lang="it-IT" err="1"/>
              <a:t>Naive</a:t>
            </a:r>
            <a:r>
              <a:rPr lang="it-IT"/>
              <a:t> sequenziale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C6D405-F4D4-ADA9-BB32-4504CDB96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93933" cy="4351338"/>
          </a:xfrm>
        </p:spPr>
        <p:txBody>
          <a:bodyPr/>
          <a:lstStyle/>
          <a:p>
            <a:r>
              <a:rPr lang="it-IT"/>
              <a:t>La prima versione sviluppata implementa una soluzione su </a:t>
            </a:r>
            <a:r>
              <a:rPr lang="it-IT" err="1"/>
              <a:t>cpu</a:t>
            </a:r>
            <a:r>
              <a:rPr lang="it-IT"/>
              <a:t> senza ottimizzazione: il cui scopo era avere una baseline per poter controllare la correttezza delle implementazioni successive.</a:t>
            </a:r>
          </a:p>
        </p:txBody>
      </p:sp>
      <p:pic>
        <p:nvPicPr>
          <p:cNvPr id="5" name="Immagine 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719552A1-AFFE-62AF-17DC-1133361C2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868" y="984696"/>
            <a:ext cx="4974840" cy="57941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98D115-02A4-AA98-E8AD-355E6F2C7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06" y="4796930"/>
            <a:ext cx="4507980" cy="179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6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E26411-E6FB-55F2-F919-DF032C94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65125"/>
            <a:ext cx="10515600" cy="1325563"/>
          </a:xfrm>
        </p:spPr>
        <p:txBody>
          <a:bodyPr/>
          <a:lstStyle/>
          <a:p>
            <a:r>
              <a:rPr lang="it-IT"/>
              <a:t>Implementazione </a:t>
            </a:r>
            <a:r>
              <a:rPr lang="it-IT" err="1"/>
              <a:t>Naive</a:t>
            </a:r>
            <a:r>
              <a:rPr lang="it-IT"/>
              <a:t> parallela</a:t>
            </a:r>
            <a:br>
              <a:rPr lang="it-IT"/>
            </a:b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60D8BE-8EAF-EE1F-FA06-BA5691CA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343025"/>
            <a:ext cx="6697134" cy="4351338"/>
          </a:xfrm>
        </p:spPr>
        <p:txBody>
          <a:bodyPr/>
          <a:lstStyle/>
          <a:p>
            <a:r>
              <a:rPr lang="it-IT"/>
              <a:t>La prima versione di un approccio parallelo sviluppata per </a:t>
            </a:r>
            <a:r>
              <a:rPr lang="it-IT" err="1"/>
              <a:t>gpu</a:t>
            </a:r>
            <a:r>
              <a:rPr lang="it-IT"/>
              <a:t>: minime modifiche del codice sequenziale per renderlo parallelo.</a:t>
            </a:r>
          </a:p>
          <a:p>
            <a:r>
              <a:rPr lang="it-IT"/>
              <a:t>Versione in cui non sono stati presi in considerazione dettagli relativi all’architettura della </a:t>
            </a:r>
            <a:r>
              <a:rPr lang="it-IT" err="1"/>
              <a:t>gpu</a:t>
            </a:r>
            <a:r>
              <a:rPr lang="it-IT"/>
              <a:t>, memorie interne e ottimizzazione della struttura del codice.</a:t>
            </a:r>
          </a:p>
        </p:txBody>
      </p:sp>
      <p:pic>
        <p:nvPicPr>
          <p:cNvPr id="5" name="Immagine 4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8D7081E9-0CC9-53D5-D150-FE3407C4F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34" y="930275"/>
            <a:ext cx="4546504" cy="58643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B60DB6-35E6-C833-B908-E99E1C992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026" y="5140455"/>
            <a:ext cx="3789701" cy="149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5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A833AC-AD56-AF54-5C55-F8B7116C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Prima ottimizzazione: modiche strutturali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1720CD-C419-B966-C824-4AB616DCD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/>
              <a:t>In questa prima fase ci siamo concentrati nell’ottimizzazione dei tempi di esecuzione concentrandoci su modifiche al codice. </a:t>
            </a:r>
          </a:p>
          <a:p>
            <a:pPr marL="0" indent="0">
              <a:buNone/>
            </a:pPr>
            <a:r>
              <a:rPr lang="it-IT"/>
              <a:t>All’interno del codice sono presenti due operazioni costose: le due </a:t>
            </a:r>
            <a:r>
              <a:rPr lang="it-IT" i="1" err="1"/>
              <a:t>expf</a:t>
            </a:r>
            <a:r>
              <a:rPr lang="it-IT" i="1"/>
              <a:t>()</a:t>
            </a:r>
            <a:r>
              <a:rPr lang="it-IT"/>
              <a:t> usate per calcolare i pesi; quindi abbiamo valutato di sostituirle con due vettori precalcolati.</a:t>
            </a:r>
          </a:p>
          <a:p>
            <a:pPr marL="0" indent="0">
              <a:buNone/>
            </a:pPr>
            <a:r>
              <a:rPr lang="it-IT">
                <a:highlight>
                  <a:srgbClr val="FFFF00"/>
                </a:highlight>
              </a:rPr>
              <a:t>Tramite compute è stato verificato che erano presenti numeri stalli dovuti a operazioni matematiche sui float, riconducibili alle </a:t>
            </a:r>
            <a:r>
              <a:rPr lang="it-IT" i="1" err="1">
                <a:highlight>
                  <a:srgbClr val="FFFF00"/>
                </a:highlight>
              </a:rPr>
              <a:t>expf</a:t>
            </a:r>
            <a:r>
              <a:rPr lang="it-IT" i="1">
                <a:highlight>
                  <a:srgbClr val="FFFF00"/>
                </a:highlight>
              </a:rPr>
              <a:t>()</a:t>
            </a:r>
            <a:r>
              <a:rPr lang="it-IT">
                <a:highlight>
                  <a:srgbClr val="FFFF00"/>
                </a:highlight>
              </a:rPr>
              <a:t>.</a:t>
            </a:r>
          </a:p>
          <a:p>
            <a:pPr marL="0" indent="0">
              <a:buNone/>
            </a:pPr>
            <a:r>
              <a:rPr lang="it-IT" i="1">
                <a:solidFill>
                  <a:schemeClr val="bg1"/>
                </a:solidFill>
                <a:highlight>
                  <a:srgbClr val="FF0000"/>
                </a:highlight>
              </a:rPr>
              <a:t>Check </a:t>
            </a:r>
            <a:r>
              <a:rPr lang="it-IT" i="1" err="1">
                <a:solidFill>
                  <a:schemeClr val="bg1"/>
                </a:solidFill>
                <a:highlight>
                  <a:srgbClr val="FF0000"/>
                </a:highlight>
              </a:rPr>
              <a:t>lookup</a:t>
            </a:r>
            <a:r>
              <a:rPr lang="it-IT" i="1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it-IT" i="1" err="1">
                <a:solidFill>
                  <a:schemeClr val="bg1"/>
                </a:solidFill>
                <a:highlight>
                  <a:srgbClr val="FF0000"/>
                </a:highlight>
              </a:rPr>
              <a:t>table</a:t>
            </a:r>
            <a:r>
              <a:rPr lang="it-IT" i="1">
                <a:solidFill>
                  <a:schemeClr val="bg1"/>
                </a:solidFill>
                <a:highlight>
                  <a:srgbClr val="FF0000"/>
                </a:highlight>
              </a:rPr>
              <a:t> compute</a:t>
            </a:r>
          </a:p>
        </p:txBody>
      </p:sp>
    </p:spTree>
    <p:extLst>
      <p:ext uri="{BB962C8B-B14F-4D97-AF65-F5344CB8AC3E}">
        <p14:creationId xmlns:p14="http://schemas.microsoft.com/office/powerpoint/2010/main" val="3048453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E8EAA5-80C2-30C9-C9A8-74D7F4098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RGB -&gt; RGBA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111898-51E2-7755-20BD-1BC81B790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/>
              <a:t>Per avere degli accessi allineate e coalescenti in memoria abbiamo deciso di aggiungere un kernel per modificare il formato dei pixel e salvarli come 4 Bytes invece che 3.</a:t>
            </a:r>
          </a:p>
          <a:p>
            <a:pPr marL="0" indent="0">
              <a:buNone/>
            </a:pPr>
            <a:r>
              <a:rPr lang="it-IT"/>
              <a:t>Immagine in fondo kernel vs </a:t>
            </a:r>
            <a:r>
              <a:rPr lang="it-IT" err="1"/>
              <a:t>stbi</a:t>
            </a:r>
            <a:r>
              <a:rPr lang="it-IT"/>
              <a:t> con note a pie di immagine di </a:t>
            </a:r>
            <a:r>
              <a:rPr lang="it-IT" err="1"/>
              <a:t>desc</a:t>
            </a:r>
            <a:r>
              <a:rPr lang="it-IT"/>
              <a:t>.</a:t>
            </a:r>
          </a:p>
        </p:txBody>
      </p:sp>
      <p:pic>
        <p:nvPicPr>
          <p:cNvPr id="5" name="Immagine 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0AFD689F-3AB9-9317-BF2B-13AC618A9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62" y="4184539"/>
            <a:ext cx="7331075" cy="2552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005E4D-12AB-B995-7CFB-D1FA1BFCB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35" y="5028029"/>
            <a:ext cx="2400144" cy="121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41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EAE704-DE51-72B8-5913-00C24CBA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Allocazione nella memoria costante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F5E648-FB63-1C9E-9C24-9312F50CE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/>
              <a:t>Nella maggior parte dei casi tutti i </a:t>
            </a:r>
            <a:r>
              <a:rPr lang="it-IT" err="1"/>
              <a:t>thread</a:t>
            </a:r>
            <a:r>
              <a:rPr lang="it-IT"/>
              <a:t> di un </a:t>
            </a:r>
            <a:r>
              <a:rPr lang="it-IT" err="1"/>
              <a:t>warp</a:t>
            </a:r>
            <a:r>
              <a:rPr lang="it-IT"/>
              <a:t> accedono allo stesso valore del vettore "peso spaziale". </a:t>
            </a:r>
          </a:p>
          <a:p>
            <a:pPr marL="0" indent="0">
              <a:buNone/>
            </a:pPr>
            <a:r>
              <a:rPr lang="it-IT"/>
              <a:t>Per questo è stato spostato nella memoria costante della </a:t>
            </a:r>
            <a:r>
              <a:rPr lang="it-IT" err="1"/>
              <a:t>gpu</a:t>
            </a:r>
            <a:r>
              <a:rPr lang="it-IT"/>
              <a:t>.</a:t>
            </a:r>
          </a:p>
          <a:p>
            <a:pPr marL="0" indent="0">
              <a:buNone/>
            </a:pPr>
            <a:r>
              <a:rPr lang="it-IT"/>
              <a:t>Essendo la memoria costante di dimensione limitata è stato necessario limitare la dimensione del kernel.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DB55D7-4680-C791-2270-FE490DC35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045" y="4236751"/>
            <a:ext cx="4781550" cy="895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554190-7085-19A6-AC17-39C8993CE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58" y="4153603"/>
            <a:ext cx="714375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57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2BC1-0F86-E554-0121-F7CE563B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Ottimizzazione</a:t>
            </a:r>
            <a:r>
              <a:rPr lang="en-US"/>
              <a:t> </a:t>
            </a:r>
            <a:r>
              <a:rPr lang="en-US" err="1"/>
              <a:t>letture</a:t>
            </a:r>
            <a:r>
              <a:rPr lang="en-US"/>
              <a:t> </a:t>
            </a:r>
            <a:r>
              <a:rPr lang="en-US" err="1"/>
              <a:t>vettore</a:t>
            </a:r>
            <a:r>
              <a:rPr lang="en-US"/>
              <a:t> </a:t>
            </a:r>
            <a:r>
              <a:rPr lang="en-US" err="1"/>
              <a:t>spaziale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7CED1-C6AB-2035-5A4C-62B6186BC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6208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La </a:t>
            </a:r>
            <a:r>
              <a:rPr lang="en-US" err="1">
                <a:solidFill>
                  <a:srgbClr val="000000"/>
                </a:solidFill>
              </a:rPr>
              <a:t>struttura</a:t>
            </a:r>
            <a:r>
              <a:rPr lang="en-US">
                <a:solidFill>
                  <a:srgbClr val="000000"/>
                </a:solidFill>
              </a:rPr>
              <a:t> del </a:t>
            </a:r>
            <a:r>
              <a:rPr lang="en-US" err="1">
                <a:solidFill>
                  <a:srgbClr val="000000"/>
                </a:solidFill>
              </a:rPr>
              <a:t>vettore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spaziale</a:t>
            </a:r>
            <a:r>
              <a:rPr lang="en-US">
                <a:solidFill>
                  <a:srgbClr val="000000"/>
                </a:solidFill>
              </a:rPr>
              <a:t> del peso è </a:t>
            </a:r>
            <a:r>
              <a:rPr lang="en-US" err="1">
                <a:solidFill>
                  <a:srgbClr val="000000"/>
                </a:solidFill>
              </a:rPr>
              <a:t>simmetrica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su</a:t>
            </a:r>
            <a:r>
              <a:rPr lang="en-US">
                <a:solidFill>
                  <a:srgbClr val="000000"/>
                </a:solidFill>
              </a:rPr>
              <a:t> tutti </a:t>
            </a:r>
            <a:r>
              <a:rPr lang="en-US" err="1">
                <a:solidFill>
                  <a:srgbClr val="000000"/>
                </a:solidFill>
              </a:rPr>
              <a:t>gli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assi</a:t>
            </a:r>
            <a:r>
              <a:rPr lang="en-US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Per </a:t>
            </a:r>
            <a:r>
              <a:rPr lang="en-US" err="1">
                <a:solidFill>
                  <a:srgbClr val="000000"/>
                </a:solidFill>
              </a:rPr>
              <a:t>ridurre</a:t>
            </a:r>
            <a:r>
              <a:rPr lang="en-US">
                <a:solidFill>
                  <a:srgbClr val="000000"/>
                </a:solidFill>
              </a:rPr>
              <a:t> le </a:t>
            </a:r>
            <a:r>
              <a:rPr lang="en-US" err="1">
                <a:solidFill>
                  <a:srgbClr val="000000"/>
                </a:solidFill>
              </a:rPr>
              <a:t>letture</a:t>
            </a:r>
            <a:r>
              <a:rPr lang="en-US">
                <a:solidFill>
                  <a:srgbClr val="000000"/>
                </a:solidFill>
              </a:rPr>
              <a:t> </a:t>
            </a:r>
            <a:r>
              <a:rPr lang="en-US" err="1">
                <a:solidFill>
                  <a:srgbClr val="000000"/>
                </a:solidFill>
              </a:rPr>
              <a:t>si</a:t>
            </a:r>
            <a:r>
              <a:rPr lang="en-US">
                <a:solidFill>
                  <a:srgbClr val="000000"/>
                </a:solidFill>
              </a:rPr>
              <a:t> è </a:t>
            </a:r>
            <a:r>
              <a:rPr lang="en-US" err="1">
                <a:solidFill>
                  <a:srgbClr val="000000"/>
                </a:solidFill>
              </a:rPr>
              <a:t>deciso</a:t>
            </a:r>
            <a:r>
              <a:rPr lang="en-US">
                <a:solidFill>
                  <a:srgbClr val="000000"/>
                </a:solidFill>
              </a:rPr>
              <a:t> di </a:t>
            </a:r>
            <a:r>
              <a:rPr lang="en-US" err="1">
                <a:solidFill>
                  <a:srgbClr val="000000"/>
                </a:solidFill>
              </a:rPr>
              <a:t>utilizzare</a:t>
            </a:r>
            <a:r>
              <a:rPr lang="en-US">
                <a:solidFill>
                  <a:srgbClr val="000000"/>
                </a:solidFill>
              </a:rPr>
              <a:t> </a:t>
            </a:r>
            <a:r>
              <a:rPr lang="en-US" err="1">
                <a:solidFill>
                  <a:srgbClr val="000000"/>
                </a:solidFill>
              </a:rPr>
              <a:t>l'asse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orizzontale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sostanzialmente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considerando</a:t>
            </a:r>
            <a:r>
              <a:rPr lang="en-US">
                <a:solidFill>
                  <a:srgbClr val="000000"/>
                </a:solidFill>
              </a:rPr>
              <a:t> lo </a:t>
            </a:r>
            <a:r>
              <a:rPr lang="en-US" err="1">
                <a:solidFill>
                  <a:srgbClr val="000000"/>
                </a:solidFill>
              </a:rPr>
              <a:t>stesso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valore</a:t>
            </a:r>
            <a:r>
              <a:rPr lang="en-US">
                <a:solidFill>
                  <a:srgbClr val="000000"/>
                </a:solidFill>
              </a:rPr>
              <a:t> per due </a:t>
            </a:r>
            <a:r>
              <a:rPr lang="en-US" err="1">
                <a:solidFill>
                  <a:srgbClr val="000000"/>
                </a:solidFill>
              </a:rPr>
              <a:t>somme</a:t>
            </a:r>
            <a:r>
              <a:rPr lang="en-US">
                <a:solidFill>
                  <a:srgbClr val="000000"/>
                </a:solidFill>
              </a:rPr>
              <a:t> (</a:t>
            </a:r>
            <a:r>
              <a:rPr lang="en-US">
                <a:solidFill>
                  <a:srgbClr val="000000"/>
                </a:solidFill>
                <a:highlight>
                  <a:srgbClr val="36BAEA"/>
                </a:highlight>
              </a:rPr>
              <a:t>8</a:t>
            </a:r>
            <a:r>
              <a:rPr lang="en-US">
                <a:solidFill>
                  <a:srgbClr val="000000"/>
                </a:solidFill>
              </a:rPr>
              <a:t> e </a:t>
            </a:r>
            <a:r>
              <a:rPr lang="en-US">
                <a:solidFill>
                  <a:srgbClr val="000000"/>
                </a:solidFill>
                <a:highlight>
                  <a:srgbClr val="FF0000"/>
                </a:highlight>
              </a:rPr>
              <a:t>8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>
                <a:solidFill>
                  <a:srgbClr val="000000"/>
                </a:solidFill>
                <a:highlight>
                  <a:srgbClr val="38BBEB"/>
                </a:highlight>
              </a:rPr>
              <a:t>5</a:t>
            </a:r>
            <a:r>
              <a:rPr lang="en-US">
                <a:solidFill>
                  <a:srgbClr val="000000"/>
                </a:solidFill>
              </a:rPr>
              <a:t> e </a:t>
            </a:r>
            <a:r>
              <a:rPr lang="en-US">
                <a:solidFill>
                  <a:srgbClr val="000000"/>
                </a:solidFill>
                <a:highlight>
                  <a:srgbClr val="FF0000"/>
                </a:highlight>
              </a:rPr>
              <a:t>5</a:t>
            </a:r>
            <a:r>
              <a:rPr lang="en-US">
                <a:solidFill>
                  <a:srgbClr val="000000"/>
                </a:solidFill>
              </a:rPr>
              <a:t> e </a:t>
            </a:r>
            <a:r>
              <a:rPr lang="en-US" err="1">
                <a:solidFill>
                  <a:srgbClr val="000000"/>
                </a:solidFill>
              </a:rPr>
              <a:t>così</a:t>
            </a:r>
            <a:r>
              <a:rPr lang="en-US">
                <a:solidFill>
                  <a:srgbClr val="000000"/>
                </a:solidFill>
              </a:rPr>
              <a:t> via).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err="1">
                <a:solidFill>
                  <a:srgbClr val="000000"/>
                </a:solidFill>
              </a:rPr>
              <a:t>L'asse</a:t>
            </a:r>
            <a:r>
              <a:rPr lang="en-US">
                <a:solidFill>
                  <a:srgbClr val="000000"/>
                </a:solidFill>
              </a:rPr>
              <a:t> centrale (       ) </a:t>
            </a:r>
            <a:r>
              <a:rPr lang="en-US" err="1">
                <a:solidFill>
                  <a:srgbClr val="000000"/>
                </a:solidFill>
              </a:rPr>
              <a:t>viene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invece</a:t>
            </a:r>
            <a:r>
              <a:rPr lang="en-US">
                <a:solidFill>
                  <a:srgbClr val="00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err="1">
                <a:solidFill>
                  <a:srgbClr val="000000"/>
                </a:solidFill>
              </a:rPr>
              <a:t>calcolato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separatamente</a:t>
            </a:r>
            <a:endParaRPr lang="en-US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highlight>
                <a:srgbClr val="FF00FF"/>
              </a:highlight>
            </a:endParaRPr>
          </a:p>
          <a:p>
            <a:endParaRPr lang="en-US">
              <a:solidFill>
                <a:srgbClr val="000000"/>
              </a:solidFill>
              <a:highlight>
                <a:srgbClr val="FF00FF"/>
              </a:highlight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highlight>
                <a:srgbClr val="FF00FF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82E57A-9CF8-88DD-E74F-F1F59641F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37" y="1327836"/>
            <a:ext cx="1895733" cy="188886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193CDDE-A6E4-4907-25C0-C38D24D587BC}"/>
              </a:ext>
            </a:extLst>
          </p:cNvPr>
          <p:cNvSpPr txBox="1"/>
          <p:nvPr/>
        </p:nvSpPr>
        <p:spPr>
          <a:xfrm>
            <a:off x="11181208" y="1543220"/>
            <a:ext cx="67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>
                <a:solidFill>
                  <a:schemeClr val="accent4"/>
                </a:solidFill>
              </a:rPr>
              <a:t>v. UP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F4E4CE2-72C8-CF58-C18C-6FCBE1AB7440}"/>
              </a:ext>
            </a:extLst>
          </p:cNvPr>
          <p:cNvSpPr txBox="1"/>
          <p:nvPr/>
        </p:nvSpPr>
        <p:spPr>
          <a:xfrm>
            <a:off x="11142192" y="2533583"/>
            <a:ext cx="1080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>
                <a:solidFill>
                  <a:srgbClr val="FF0000"/>
                </a:solidFill>
              </a:rPr>
              <a:t>v. DOWN</a:t>
            </a:r>
          </a:p>
        </p:txBody>
      </p:sp>
      <p:pic>
        <p:nvPicPr>
          <p:cNvPr id="6" name="Immagine 5" descr="Immagine che contiene testo, schermata, software&#10;&#10;Il contenuto generato dall'IA potrebbe non essere corretto.">
            <a:extLst>
              <a:ext uri="{FF2B5EF4-FFF2-40B4-BE49-F238E27FC236}">
                <a16:creationId xmlns:a16="http://schemas.microsoft.com/office/drawing/2014/main" id="{C839411F-E16C-F874-C0B5-A160940E8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416" y="3171173"/>
            <a:ext cx="2946971" cy="3684433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75F5EC7-015A-D4D0-A8BF-79687C646049}"/>
              </a:ext>
            </a:extLst>
          </p:cNvPr>
          <p:cNvCxnSpPr/>
          <p:nvPr/>
        </p:nvCxnSpPr>
        <p:spPr>
          <a:xfrm flipH="1" flipV="1">
            <a:off x="11848243" y="2888736"/>
            <a:ext cx="1427" cy="1234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D34A16F-D449-70A2-453B-E283FA26B052}"/>
              </a:ext>
            </a:extLst>
          </p:cNvPr>
          <p:cNvCxnSpPr/>
          <p:nvPr/>
        </p:nvCxnSpPr>
        <p:spPr>
          <a:xfrm flipV="1">
            <a:off x="10717656" y="1858549"/>
            <a:ext cx="711829" cy="1826512"/>
          </a:xfrm>
          <a:prstGeom prst="straightConnector1">
            <a:avLst/>
          </a:prstGeom>
          <a:ln>
            <a:solidFill>
              <a:srgbClr val="36BAE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530CF24C-0062-E0EB-D41A-ACA894540C3A}"/>
              </a:ext>
            </a:extLst>
          </p:cNvPr>
          <p:cNvCxnSpPr/>
          <p:nvPr/>
        </p:nvCxnSpPr>
        <p:spPr>
          <a:xfrm flipV="1">
            <a:off x="10820400" y="4122867"/>
            <a:ext cx="1027842" cy="52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Connettore diritto 13">
            <a:extLst>
              <a:ext uri="{FF2B5EF4-FFF2-40B4-BE49-F238E27FC236}">
                <a16:creationId xmlns:a16="http://schemas.microsoft.com/office/drawing/2014/main" id="{BB546073-F6B2-C374-6509-C1F99A9CADB4}"/>
              </a:ext>
            </a:extLst>
          </p:cNvPr>
          <p:cNvCxnSpPr>
            <a:cxnSpLocks/>
          </p:cNvCxnSpPr>
          <p:nvPr/>
        </p:nvCxnSpPr>
        <p:spPr>
          <a:xfrm>
            <a:off x="3413210" y="4780235"/>
            <a:ext cx="458059" cy="1659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07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55CC-6603-A319-A973-5B9A90593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Gestione</a:t>
            </a:r>
            <a:r>
              <a:rPr lang="en-US"/>
              <a:t> </a:t>
            </a:r>
            <a:r>
              <a:rPr lang="en-US" err="1"/>
              <a:t>dei</a:t>
            </a:r>
            <a:r>
              <a:rPr lang="en-US"/>
              <a:t> </a:t>
            </a:r>
            <a:r>
              <a:rPr lang="en-US" err="1"/>
              <a:t>bordi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5FD3C-C6C8-C792-311F-907FEA0B4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04" y="1825625"/>
            <a:ext cx="1097779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Con </a:t>
            </a:r>
            <a:r>
              <a:rPr lang="en-US" err="1"/>
              <a:t>l'ultima</a:t>
            </a:r>
            <a:r>
              <a:rPr lang="en-US"/>
              <a:t> </a:t>
            </a:r>
            <a:r>
              <a:rPr lang="en-US" err="1"/>
              <a:t>ottimizzazione</a:t>
            </a:r>
            <a:r>
              <a:rPr lang="en-US"/>
              <a:t>, </a:t>
            </a:r>
            <a:r>
              <a:rPr lang="en-US" err="1"/>
              <a:t>insorge</a:t>
            </a:r>
            <a:r>
              <a:rPr lang="en-US"/>
              <a:t> un </a:t>
            </a:r>
            <a:r>
              <a:rPr lang="en-US" err="1"/>
              <a:t>problema</a:t>
            </a:r>
            <a:r>
              <a:rPr lang="en-US"/>
              <a:t> del </a:t>
            </a:r>
            <a:r>
              <a:rPr lang="en-US" err="1"/>
              <a:t>calcolo</a:t>
            </a:r>
            <a:r>
              <a:rPr lang="en-US"/>
              <a:t> sui </a:t>
            </a:r>
            <a:r>
              <a:rPr lang="en-US" err="1"/>
              <a:t>bordi</a:t>
            </a:r>
            <a:r>
              <a:rPr lang="en-US"/>
              <a:t> (al </a:t>
            </a:r>
            <a:r>
              <a:rPr lang="en-US" err="1"/>
              <a:t>limitare</a:t>
            </a:r>
            <a:r>
              <a:rPr lang="en-US"/>
              <a:t> della memoria </a:t>
            </a:r>
            <a:r>
              <a:rPr lang="en-US" err="1"/>
              <a:t>allocata</a:t>
            </a:r>
            <a:r>
              <a:rPr lang="en-US"/>
              <a:t>,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rischiano</a:t>
            </a:r>
            <a:r>
              <a:rPr lang="en-US"/>
              <a:t> </a:t>
            </a:r>
            <a:r>
              <a:rPr lang="en-US" err="1"/>
              <a:t>letture</a:t>
            </a:r>
            <a:r>
              <a:rPr lang="en-US"/>
              <a:t> di </a:t>
            </a:r>
            <a:r>
              <a:rPr lang="en-US" err="1"/>
              <a:t>valori</a:t>
            </a:r>
            <a:r>
              <a:rPr lang="en-US"/>
              <a:t> OOB).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Per </a:t>
            </a:r>
            <a:r>
              <a:rPr lang="en-US" err="1"/>
              <a:t>mitigare</a:t>
            </a:r>
            <a:r>
              <a:rPr lang="en-US"/>
              <a:t> </a:t>
            </a:r>
            <a:r>
              <a:rPr lang="en-US" err="1"/>
              <a:t>questo</a:t>
            </a:r>
            <a:r>
              <a:rPr lang="en-US"/>
              <a:t> </a:t>
            </a:r>
            <a:r>
              <a:rPr lang="en-US" err="1"/>
              <a:t>problema</a:t>
            </a:r>
            <a:r>
              <a:rPr lang="en-US"/>
              <a:t>, </a:t>
            </a:r>
            <a:r>
              <a:rPr lang="en-US" err="1"/>
              <a:t>sono</a:t>
            </a:r>
            <a:r>
              <a:rPr lang="en-US"/>
              <a:t> state testate 2 </a:t>
            </a:r>
            <a:r>
              <a:rPr lang="en-US" err="1"/>
              <a:t>strategie</a:t>
            </a:r>
            <a:r>
              <a:rPr lang="en-US"/>
              <a:t>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3300"/>
              <a:t>    </a:t>
            </a:r>
          </a:p>
          <a:p>
            <a:pPr marL="0" indent="0">
              <a:buNone/>
            </a:pPr>
            <a:r>
              <a:rPr lang="en-US" sz="3300"/>
              <a:t>  </a:t>
            </a:r>
            <a:r>
              <a:rPr lang="en-US" sz="3300" i="1"/>
              <a:t>Multipli kernel vs </a:t>
            </a:r>
            <a:r>
              <a:rPr lang="en-US" sz="3300" i="1" err="1"/>
              <a:t>singolo</a:t>
            </a:r>
            <a:r>
              <a:rPr lang="en-US" sz="3300" i="1"/>
              <a:t> kernel con if statements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3056322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EB6A-EF22-278D-EA00-060B931C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Approccio</a:t>
            </a:r>
            <a:r>
              <a:rPr lang="en-US"/>
              <a:t> </a:t>
            </a:r>
            <a:r>
              <a:rPr lang="en-US" err="1"/>
              <a:t>multipli</a:t>
            </a:r>
            <a:r>
              <a:rPr lang="en-US"/>
              <a:t>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33049-7979-61A9-D3A5-C791EF643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Per </a:t>
            </a:r>
            <a:r>
              <a:rPr lang="en-US" err="1"/>
              <a:t>ovviare</a:t>
            </a:r>
            <a:r>
              <a:rPr lang="en-US"/>
              <a:t> al </a:t>
            </a:r>
            <a:r>
              <a:rPr lang="en-US" err="1"/>
              <a:t>problema</a:t>
            </a:r>
            <a:r>
              <a:rPr lang="en-US"/>
              <a:t> </a:t>
            </a:r>
            <a:r>
              <a:rPr lang="en-US" err="1"/>
              <a:t>dei</a:t>
            </a:r>
            <a:r>
              <a:rPr lang="en-US"/>
              <a:t> </a:t>
            </a:r>
            <a:r>
              <a:rPr lang="en-US" err="1"/>
              <a:t>bordi</a:t>
            </a:r>
            <a:r>
              <a:rPr lang="en-US"/>
              <a:t>, </a:t>
            </a:r>
            <a:r>
              <a:rPr lang="en-US" err="1"/>
              <a:t>inizialmente</a:t>
            </a:r>
            <a:r>
              <a:rPr lang="en-US"/>
              <a:t> </a:t>
            </a:r>
            <a:r>
              <a:rPr lang="en-US" err="1"/>
              <a:t>l'idea</a:t>
            </a:r>
            <a:r>
              <a:rPr lang="en-US"/>
              <a:t> </a:t>
            </a:r>
            <a:r>
              <a:rPr lang="en-US" err="1"/>
              <a:t>dei</a:t>
            </a:r>
            <a:r>
              <a:rPr lang="en-US"/>
              <a:t> kernel </a:t>
            </a:r>
            <a:r>
              <a:rPr lang="en-US" err="1"/>
              <a:t>multipli</a:t>
            </a:r>
            <a:r>
              <a:rPr lang="en-US"/>
              <a:t> per </a:t>
            </a:r>
            <a:r>
              <a:rPr lang="en-US" err="1"/>
              <a:t>gestire</a:t>
            </a:r>
            <a:r>
              <a:rPr lang="en-US"/>
              <a:t> </a:t>
            </a:r>
            <a:r>
              <a:rPr lang="en-US" err="1"/>
              <a:t>istruzioni</a:t>
            </a:r>
            <a:r>
              <a:rPr lang="en-US"/>
              <a:t> </a:t>
            </a:r>
            <a:r>
              <a:rPr lang="en-US" err="1"/>
              <a:t>differenti</a:t>
            </a:r>
            <a:r>
              <a:rPr lang="en-US"/>
              <a:t> </a:t>
            </a:r>
            <a:r>
              <a:rPr lang="en-US" err="1"/>
              <a:t>sembrava</a:t>
            </a:r>
            <a:r>
              <a:rPr lang="en-US"/>
              <a:t> </a:t>
            </a:r>
            <a:r>
              <a:rPr lang="en-US" err="1"/>
              <a:t>valida</a:t>
            </a:r>
            <a:r>
              <a:rPr lang="en-US"/>
              <a:t>, ai </a:t>
            </a:r>
            <a:r>
              <a:rPr lang="en-US" err="1"/>
              <a:t>fini</a:t>
            </a:r>
            <a:r>
              <a:rPr lang="en-US"/>
              <a:t> di </a:t>
            </a:r>
            <a:r>
              <a:rPr lang="en-US" err="1"/>
              <a:t>ridurre</a:t>
            </a:r>
            <a:r>
              <a:rPr lang="en-US"/>
              <a:t> al </a:t>
            </a:r>
            <a:r>
              <a:rPr lang="en-US" err="1"/>
              <a:t>minimo</a:t>
            </a:r>
            <a:r>
              <a:rPr lang="en-US"/>
              <a:t> la </a:t>
            </a:r>
            <a:r>
              <a:rPr lang="en-US" err="1"/>
              <a:t>divergenza</a:t>
            </a:r>
            <a:r>
              <a:rPr lang="en-US"/>
              <a:t>, </a:t>
            </a:r>
            <a:r>
              <a:rPr lang="en-US" err="1"/>
              <a:t>che</a:t>
            </a:r>
            <a:r>
              <a:rPr lang="en-US"/>
              <a:t> </a:t>
            </a:r>
            <a:r>
              <a:rPr lang="en-US" err="1"/>
              <a:t>avrebbe</a:t>
            </a:r>
            <a:r>
              <a:rPr lang="en-US"/>
              <a:t> </a:t>
            </a:r>
            <a:r>
              <a:rPr lang="en-US" err="1"/>
              <a:t>rischiato</a:t>
            </a:r>
            <a:r>
              <a:rPr lang="en-US"/>
              <a:t> di </a:t>
            </a:r>
            <a:r>
              <a:rPr lang="en-US" err="1"/>
              <a:t>minare</a:t>
            </a:r>
            <a:r>
              <a:rPr lang="en-US"/>
              <a:t> la </a:t>
            </a:r>
            <a:r>
              <a:rPr lang="en-US" err="1"/>
              <a:t>parallelità</a:t>
            </a:r>
            <a:r>
              <a:rPr lang="en-US"/>
              <a:t> del </a:t>
            </a:r>
            <a:r>
              <a:rPr lang="en-US" err="1"/>
              <a:t>problema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Il </a:t>
            </a:r>
            <a:r>
              <a:rPr lang="en-US" err="1"/>
              <a:t>risultato</a:t>
            </a:r>
            <a:r>
              <a:rPr lang="en-US"/>
              <a:t> di </a:t>
            </a:r>
            <a:r>
              <a:rPr lang="en-US" err="1"/>
              <a:t>questo</a:t>
            </a:r>
            <a:r>
              <a:rPr lang="en-US"/>
              <a:t> test era </a:t>
            </a:r>
            <a:r>
              <a:rPr lang="en-US" err="1"/>
              <a:t>promettente</a:t>
            </a:r>
            <a:r>
              <a:rPr lang="en-US"/>
              <a:t>, </a:t>
            </a:r>
            <a:r>
              <a:rPr lang="en-US" err="1"/>
              <a:t>mostrando</a:t>
            </a:r>
            <a:r>
              <a:rPr lang="en-US"/>
              <a:t> </a:t>
            </a:r>
            <a:r>
              <a:rPr lang="en-US" err="1"/>
              <a:t>significativi</a:t>
            </a:r>
            <a:r>
              <a:rPr lang="en-US"/>
              <a:t> </a:t>
            </a:r>
            <a:r>
              <a:rPr lang="en-US" err="1"/>
              <a:t>miglioramenti</a:t>
            </a:r>
            <a:r>
              <a:rPr lang="en-US"/>
              <a:t> rispetto alla </a:t>
            </a:r>
            <a:r>
              <a:rPr lang="en-US" err="1"/>
              <a:t>soluzione</a:t>
            </a:r>
            <a:r>
              <a:rPr lang="en-US"/>
              <a:t> </a:t>
            </a:r>
            <a:r>
              <a:rPr lang="en-US" err="1"/>
              <a:t>precendente</a:t>
            </a:r>
            <a:r>
              <a:rPr lang="en-US"/>
              <a:t>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5EFCC-1F6D-1740-C856-852A51272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237189" y="4965492"/>
            <a:ext cx="3066738" cy="87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23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DB6A-3173-6833-3564-05411D61D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Approccio</a:t>
            </a:r>
            <a:r>
              <a:rPr lang="en-US"/>
              <a:t> kernel </a:t>
            </a:r>
            <a:r>
              <a:rPr lang="en-US" err="1"/>
              <a:t>singolo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F44C8-C1A4-3760-276E-2E6C5E796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Questa </a:t>
            </a:r>
            <a:r>
              <a:rPr lang="en-US" err="1"/>
              <a:t>soluzione</a:t>
            </a:r>
            <a:r>
              <a:rPr lang="en-US"/>
              <a:t> </a:t>
            </a:r>
            <a:r>
              <a:rPr lang="en-US" err="1"/>
              <a:t>adotta</a:t>
            </a:r>
            <a:r>
              <a:rPr lang="en-US"/>
              <a:t> </a:t>
            </a:r>
            <a:r>
              <a:rPr lang="en-US" err="1"/>
              <a:t>l'utilizzo</a:t>
            </a:r>
            <a:r>
              <a:rPr lang="en-US"/>
              <a:t> di if, </a:t>
            </a:r>
            <a:r>
              <a:rPr lang="en-US" err="1"/>
              <a:t>tuttavia</a:t>
            </a:r>
            <a:r>
              <a:rPr lang="en-US"/>
              <a:t> </a:t>
            </a:r>
            <a:r>
              <a:rPr lang="en-US" err="1"/>
              <a:t>manipolando</a:t>
            </a:r>
            <a:r>
              <a:rPr lang="en-US"/>
              <a:t> </a:t>
            </a:r>
            <a:r>
              <a:rPr lang="en-US" err="1"/>
              <a:t>correttamente</a:t>
            </a:r>
            <a:r>
              <a:rPr lang="en-US"/>
              <a:t> la </a:t>
            </a:r>
            <a:r>
              <a:rPr lang="en-US" err="1"/>
              <a:t>dimensione</a:t>
            </a:r>
            <a:r>
              <a:rPr lang="en-US"/>
              <a:t> </a:t>
            </a:r>
            <a:r>
              <a:rPr lang="en-US" err="1"/>
              <a:t>dei</a:t>
            </a:r>
            <a:r>
              <a:rPr lang="en-US"/>
              <a:t> </a:t>
            </a:r>
            <a:r>
              <a:rPr lang="en-US" err="1"/>
              <a:t>blocchi</a:t>
            </a:r>
            <a:r>
              <a:rPr lang="en-US"/>
              <a:t> </a:t>
            </a:r>
            <a:r>
              <a:rPr lang="en-US" err="1"/>
              <a:t>siamo</a:t>
            </a:r>
            <a:r>
              <a:rPr lang="en-US"/>
              <a:t> </a:t>
            </a:r>
            <a:r>
              <a:rPr lang="en-US" err="1"/>
              <a:t>riusciti</a:t>
            </a:r>
            <a:r>
              <a:rPr lang="en-US"/>
              <a:t> ad </a:t>
            </a:r>
            <a:r>
              <a:rPr lang="en-US" err="1"/>
              <a:t>allocare</a:t>
            </a:r>
            <a:r>
              <a:rPr lang="en-US"/>
              <a:t> a ogni warp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riga</a:t>
            </a:r>
            <a:r>
              <a:rPr lang="en-US"/>
              <a:t> di pixel, </a:t>
            </a:r>
            <a:r>
              <a:rPr lang="en-US" err="1"/>
              <a:t>riducendo</a:t>
            </a:r>
            <a:r>
              <a:rPr lang="en-US"/>
              <a:t> </a:t>
            </a:r>
            <a:r>
              <a:rPr lang="en-US" err="1"/>
              <a:t>quindi</a:t>
            </a:r>
            <a:r>
              <a:rPr lang="en-US"/>
              <a:t> quasi a 0 il </a:t>
            </a:r>
            <a:r>
              <a:rPr lang="en-US" err="1"/>
              <a:t>numero</a:t>
            </a:r>
            <a:r>
              <a:rPr lang="en-US"/>
              <a:t> di </a:t>
            </a:r>
            <a:r>
              <a:rPr lang="en-US" err="1"/>
              <a:t>divergenze</a:t>
            </a:r>
            <a:r>
              <a:rPr lang="en-US"/>
              <a:t> per thread </a:t>
            </a:r>
            <a:r>
              <a:rPr lang="en-US" err="1"/>
              <a:t>impattanti</a:t>
            </a:r>
            <a:r>
              <a:rPr lang="en-US"/>
              <a:t> </a:t>
            </a:r>
            <a:r>
              <a:rPr lang="en-US" err="1"/>
              <a:t>sulla</a:t>
            </a:r>
            <a:r>
              <a:rPr lang="en-US"/>
              <a:t> </a:t>
            </a:r>
            <a:r>
              <a:rPr lang="en-US" err="1"/>
              <a:t>scheda</a:t>
            </a:r>
            <a:r>
              <a:rPr lang="en-US"/>
              <a:t> video.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528B8F-B6CC-798E-E318-DA4FD7CF5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959" y="3760033"/>
            <a:ext cx="8001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08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136A5D-DC59-5A57-AAC9-BFA938B3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SLIDE METRICHE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DA87B3-660B-3BB6-443D-9934539C7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1414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98F5036DAAA14AAB48551FF01F77F6" ma:contentTypeVersion="10" ma:contentTypeDescription="Create a new document." ma:contentTypeScope="" ma:versionID="aa5da45809d5d4763bec7e383e5ed965">
  <xsd:schema xmlns:xsd="http://www.w3.org/2001/XMLSchema" xmlns:xs="http://www.w3.org/2001/XMLSchema" xmlns:p="http://schemas.microsoft.com/office/2006/metadata/properties" xmlns:ns3="e0de49c3-1554-4f35-b3bc-a6107727baf4" targetNamespace="http://schemas.microsoft.com/office/2006/metadata/properties" ma:root="true" ma:fieldsID="93524596229979e530b8e635d3874faf" ns3:_="">
    <xsd:import namespace="e0de49c3-1554-4f35-b3bc-a6107727baf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e49c3-1554-4f35-b3bc-a6107727baf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de49c3-1554-4f35-b3bc-a6107727baf4" xsi:nil="true"/>
  </documentManagement>
</p:properties>
</file>

<file path=customXml/itemProps1.xml><?xml version="1.0" encoding="utf-8"?>
<ds:datastoreItem xmlns:ds="http://schemas.openxmlformats.org/officeDocument/2006/customXml" ds:itemID="{C3361D91-BD73-4FED-8578-56C1B660D0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B31E7D-7E03-4B04-A5F0-5433E52D0747}">
  <ds:schemaRefs>
    <ds:schemaRef ds:uri="e0de49c3-1554-4f35-b3bc-a6107727ba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D2CB597-B6D4-4CF6-9189-0169ED37B65C}">
  <ds:schemaRefs>
    <ds:schemaRef ds:uri="http://purl.org/dc/elements/1.1/"/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e0de49c3-1554-4f35-b3bc-a6107727baf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Widescreen</PresentationFormat>
  <Paragraphs>47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di Office</vt:lpstr>
      <vt:lpstr>Presentazione standard di PowerPoint</vt:lpstr>
      <vt:lpstr>Bilateral filtering</vt:lpstr>
      <vt:lpstr>Bilateral filter</vt:lpstr>
      <vt:lpstr>Introduzione a implementazione Naive sequenziale</vt:lpstr>
      <vt:lpstr>Implementazione Naive parallela </vt:lpstr>
      <vt:lpstr>Prima ottimizzazione: modiche strutturali</vt:lpstr>
      <vt:lpstr>RGB -&gt; RGBA</vt:lpstr>
      <vt:lpstr>Allocazione nella memoria costante</vt:lpstr>
      <vt:lpstr>Ottimizzazione letture vettore spaziale</vt:lpstr>
      <vt:lpstr>Gestione dei bordi</vt:lpstr>
      <vt:lpstr>Approccio multipli kernel</vt:lpstr>
      <vt:lpstr>Approccio kernel singolo</vt:lpstr>
      <vt:lpstr>SLIDE METRICHE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Mirko Tonelli - mirko.tonelli2@studio.unibo.it</dc:creator>
  <cp:lastModifiedBy>Mirko Tonelli - mirko.tonelli2@studio.unibo.it</cp:lastModifiedBy>
  <cp:revision>1</cp:revision>
  <dcterms:created xsi:type="dcterms:W3CDTF">2026-01-31T14:12:29Z</dcterms:created>
  <dcterms:modified xsi:type="dcterms:W3CDTF">2026-01-31T21:20:56Z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0x010100A498F5036DAAA14AAB48551FF01F77F6</vt:lpwstr>
  </property>
</Properties>
</file>